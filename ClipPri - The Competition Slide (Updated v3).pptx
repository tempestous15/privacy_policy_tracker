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9F1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A0E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Competition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475488" y="841248"/>
            <a:ext cx="438912" cy="36576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one built to detect, explain, and act, all in one place.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1428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6" name="Image 0" descr="icon_w_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9370" y="1545336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private</a:t>
            </a:r>
            <a:endParaRPr lang="en-US" sz="870" dirty="0"/>
          </a:p>
        </p:txBody>
      </p:sp>
      <p:sp>
        <p:nvSpPr>
          <p:cNvPr id="8" name="Shape 5"/>
          <p:cNvSpPr/>
          <p:nvPr/>
        </p:nvSpPr>
        <p:spPr>
          <a:xfrm>
            <a:off x="3637353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9" name="Image 1" descr="icon_w_findinp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5295" y="1545336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1925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Plain-language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70" dirty="0"/>
          </a:p>
        </p:txBody>
      </p:sp>
      <p:sp>
        <p:nvSpPr>
          <p:cNvPr id="11" name="Shape 7"/>
          <p:cNvSpPr/>
          <p:nvPr/>
        </p:nvSpPr>
        <p:spPr>
          <a:xfrm>
            <a:off x="4993277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12" name="Image 2" descr="icon_w_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1219" y="15453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97849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70" dirty="0"/>
          </a:p>
        </p:txBody>
      </p:sp>
      <p:sp>
        <p:nvSpPr>
          <p:cNvPr id="14" name="Shape 9"/>
          <p:cNvSpPr/>
          <p:nvPr/>
        </p:nvSpPr>
        <p:spPr>
          <a:xfrm>
            <a:off x="6349202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15" name="Image 3" descr="icon_w_senso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7144" y="1545336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353774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tracker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870" dirty="0"/>
          </a:p>
        </p:txBody>
      </p:sp>
      <p:sp>
        <p:nvSpPr>
          <p:cNvPr id="17" name="Shape 11"/>
          <p:cNvSpPr/>
          <p:nvPr/>
        </p:nvSpPr>
        <p:spPr>
          <a:xfrm>
            <a:off x="7705126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18" name="Image 4" descr="icon_w_shie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3069" y="1545336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709698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protection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870" dirty="0"/>
          </a:p>
        </p:txBody>
      </p:sp>
      <p:sp>
        <p:nvSpPr>
          <p:cNvPr id="20" name="Shape 13"/>
          <p:cNvSpPr/>
          <p:nvPr/>
        </p:nvSpPr>
        <p:spPr>
          <a:xfrm>
            <a:off x="9061051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21" name="Image 5" descr="icon_w_glob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8993" y="1545336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065623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on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site</a:t>
            </a:r>
            <a:endParaRPr lang="en-US" sz="870" dirty="0"/>
          </a:p>
        </p:txBody>
      </p:sp>
      <p:sp>
        <p:nvSpPr>
          <p:cNvPr id="23" name="Shape 15"/>
          <p:cNvSpPr/>
          <p:nvPr/>
        </p:nvSpPr>
        <p:spPr>
          <a:xfrm>
            <a:off x="10416975" y="1444752"/>
            <a:ext cx="1273629" cy="841248"/>
          </a:xfrm>
          <a:prstGeom prst="roundRect">
            <a:avLst>
              <a:gd name="adj" fmla="val 8696"/>
            </a:avLst>
          </a:prstGeom>
          <a:solidFill>
            <a:srgbClr val="2B63D4"/>
          </a:solidFill>
          <a:ln/>
        </p:spPr>
      </p:sp>
      <p:pic>
        <p:nvPicPr>
          <p:cNvPr id="24" name="Image 6" descr="icon_w_beginn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34918" y="1545336"/>
            <a:ext cx="237744" cy="23774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421547" y="1828800"/>
            <a:ext cx="126448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without</a:t>
            </a:r>
            <a:endParaRPr lang="en-US" sz="87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7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jargon</a:t>
            </a:r>
            <a:endParaRPr lang="en-US" sz="870" dirty="0"/>
          </a:p>
        </p:txBody>
      </p:sp>
      <p:sp>
        <p:nvSpPr>
          <p:cNvPr id="26" name="Shape 17"/>
          <p:cNvSpPr/>
          <p:nvPr/>
        </p:nvSpPr>
        <p:spPr>
          <a:xfrm>
            <a:off x="402336" y="2313432"/>
            <a:ext cx="11384280" cy="512064"/>
          </a:xfrm>
          <a:prstGeom prst="roundRect">
            <a:avLst>
              <a:gd name="adj" fmla="val 10714"/>
            </a:avLst>
          </a:prstGeom>
          <a:solidFill>
            <a:srgbClr val="DCE9FC"/>
          </a:solidFill>
          <a:ln/>
        </p:spPr>
      </p:sp>
      <p:sp>
        <p:nvSpPr>
          <p:cNvPr id="27" name="Shape 18"/>
          <p:cNvSpPr/>
          <p:nvPr/>
        </p:nvSpPr>
        <p:spPr>
          <a:xfrm>
            <a:off x="402336" y="2313432"/>
            <a:ext cx="54864" cy="512064"/>
          </a:xfrm>
          <a:prstGeom prst="rect">
            <a:avLst/>
          </a:prstGeom>
          <a:solidFill>
            <a:srgbClr val="2536DC"/>
          </a:solidFill>
          <a:ln/>
        </p:spPr>
      </p:sp>
      <p:sp>
        <p:nvSpPr>
          <p:cNvPr id="28" name="Text 19"/>
          <p:cNvSpPr/>
          <p:nvPr/>
        </p:nvSpPr>
        <p:spPr>
          <a:xfrm>
            <a:off x="512064" y="233172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6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ClipPri</a:t>
            </a:r>
            <a:endParaRPr lang="en-US" sz="1300" dirty="0"/>
          </a:p>
        </p:txBody>
      </p:sp>
      <p:sp>
        <p:nvSpPr>
          <p:cNvPr id="29" name="Shape 20"/>
          <p:cNvSpPr/>
          <p:nvPr/>
        </p:nvSpPr>
        <p:spPr>
          <a:xfrm>
            <a:off x="2803942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0" name="Text 21"/>
          <p:cNvSpPr/>
          <p:nvPr/>
        </p:nvSpPr>
        <p:spPr>
          <a:xfrm>
            <a:off x="2803942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Shape 22"/>
          <p:cNvSpPr/>
          <p:nvPr/>
        </p:nvSpPr>
        <p:spPr>
          <a:xfrm>
            <a:off x="4159867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2" name="Text 23"/>
          <p:cNvSpPr/>
          <p:nvPr/>
        </p:nvSpPr>
        <p:spPr>
          <a:xfrm>
            <a:off x="4159867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3" name="Shape 24"/>
          <p:cNvSpPr/>
          <p:nvPr/>
        </p:nvSpPr>
        <p:spPr>
          <a:xfrm>
            <a:off x="5515791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4" name="Text 25"/>
          <p:cNvSpPr/>
          <p:nvPr/>
        </p:nvSpPr>
        <p:spPr>
          <a:xfrm>
            <a:off x="5515791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Shape 26"/>
          <p:cNvSpPr/>
          <p:nvPr/>
        </p:nvSpPr>
        <p:spPr>
          <a:xfrm>
            <a:off x="6871716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6" name="Text 27"/>
          <p:cNvSpPr/>
          <p:nvPr/>
        </p:nvSpPr>
        <p:spPr>
          <a:xfrm>
            <a:off x="6871716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Shape 28"/>
          <p:cNvSpPr/>
          <p:nvPr/>
        </p:nvSpPr>
        <p:spPr>
          <a:xfrm>
            <a:off x="8227641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38" name="Text 29"/>
          <p:cNvSpPr/>
          <p:nvPr/>
        </p:nvSpPr>
        <p:spPr>
          <a:xfrm>
            <a:off x="8227641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9583565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40" name="Text 31"/>
          <p:cNvSpPr/>
          <p:nvPr/>
        </p:nvSpPr>
        <p:spPr>
          <a:xfrm>
            <a:off x="9583565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10939490" y="2464308"/>
            <a:ext cx="228600" cy="228600"/>
          </a:xfrm>
          <a:prstGeom prst="ellipse">
            <a:avLst/>
          </a:prstGeom>
          <a:solidFill>
            <a:srgbClr val="2536DC"/>
          </a:solidFill>
          <a:ln/>
        </p:spPr>
      </p:sp>
      <p:sp>
        <p:nvSpPr>
          <p:cNvPr id="42" name="Text 33"/>
          <p:cNvSpPr/>
          <p:nvPr/>
        </p:nvSpPr>
        <p:spPr>
          <a:xfrm>
            <a:off x="10939490" y="24643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457200" y="2825496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512064" y="284378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 Summarizer</a:t>
            </a:r>
            <a:endParaRPr lang="en-US" sz="1150" dirty="0"/>
          </a:p>
        </p:txBody>
      </p:sp>
      <p:sp>
        <p:nvSpPr>
          <p:cNvPr id="45" name="Shape 36"/>
          <p:cNvSpPr/>
          <p:nvPr/>
        </p:nvSpPr>
        <p:spPr>
          <a:xfrm>
            <a:off x="4159867" y="2976372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6" name="Text 37"/>
          <p:cNvSpPr/>
          <p:nvPr/>
        </p:nvSpPr>
        <p:spPr>
          <a:xfrm>
            <a:off x="4159867" y="29763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7" name="Shape 38"/>
          <p:cNvSpPr/>
          <p:nvPr/>
        </p:nvSpPr>
        <p:spPr>
          <a:xfrm>
            <a:off x="5515791" y="2976372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48" name="Text 39"/>
          <p:cNvSpPr/>
          <p:nvPr/>
        </p:nvSpPr>
        <p:spPr>
          <a:xfrm>
            <a:off x="5515791" y="29763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49" name="Shape 40"/>
          <p:cNvSpPr/>
          <p:nvPr/>
        </p:nvSpPr>
        <p:spPr>
          <a:xfrm>
            <a:off x="9583565" y="2976372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0" name="Text 41"/>
          <p:cNvSpPr/>
          <p:nvPr/>
        </p:nvSpPr>
        <p:spPr>
          <a:xfrm>
            <a:off x="9583565" y="29763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1" name="Shape 42"/>
          <p:cNvSpPr/>
          <p:nvPr/>
        </p:nvSpPr>
        <p:spPr>
          <a:xfrm>
            <a:off x="457200" y="3337560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512064" y="335584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ToS;DR</a:t>
            </a:r>
            <a:endParaRPr lang="en-US" sz="1150" dirty="0"/>
          </a:p>
        </p:txBody>
      </p:sp>
      <p:sp>
        <p:nvSpPr>
          <p:cNvPr id="53" name="Shape 44"/>
          <p:cNvSpPr/>
          <p:nvPr/>
        </p:nvSpPr>
        <p:spPr>
          <a:xfrm>
            <a:off x="5515791" y="3488436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4" name="Text 45"/>
          <p:cNvSpPr/>
          <p:nvPr/>
        </p:nvSpPr>
        <p:spPr>
          <a:xfrm>
            <a:off x="5515791" y="348843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457200" y="3849624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56" name="Text 47"/>
          <p:cNvSpPr/>
          <p:nvPr/>
        </p:nvSpPr>
        <p:spPr>
          <a:xfrm>
            <a:off x="512064" y="386791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Polirizer</a:t>
            </a:r>
            <a:endParaRPr lang="en-US" sz="1150" dirty="0"/>
          </a:p>
        </p:txBody>
      </p:sp>
      <p:sp>
        <p:nvSpPr>
          <p:cNvPr id="57" name="Shape 48"/>
          <p:cNvSpPr/>
          <p:nvPr/>
        </p:nvSpPr>
        <p:spPr>
          <a:xfrm>
            <a:off x="4159867" y="4000500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58" name="Text 49"/>
          <p:cNvSpPr/>
          <p:nvPr/>
        </p:nvSpPr>
        <p:spPr>
          <a:xfrm>
            <a:off x="4159867" y="4000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59" name="Shape 50"/>
          <p:cNvSpPr/>
          <p:nvPr/>
        </p:nvSpPr>
        <p:spPr>
          <a:xfrm>
            <a:off x="9583565" y="4000500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0" name="Text 51"/>
          <p:cNvSpPr/>
          <p:nvPr/>
        </p:nvSpPr>
        <p:spPr>
          <a:xfrm>
            <a:off x="9583565" y="4000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1" name="Shape 52"/>
          <p:cNvSpPr/>
          <p:nvPr/>
        </p:nvSpPr>
        <p:spPr>
          <a:xfrm>
            <a:off x="10939490" y="4000500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2" name="Text 53"/>
          <p:cNvSpPr/>
          <p:nvPr/>
        </p:nvSpPr>
        <p:spPr>
          <a:xfrm>
            <a:off x="10939490" y="40005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3" name="Shape 54"/>
          <p:cNvSpPr/>
          <p:nvPr/>
        </p:nvSpPr>
        <p:spPr>
          <a:xfrm>
            <a:off x="457200" y="4361688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64" name="Text 55"/>
          <p:cNvSpPr/>
          <p:nvPr/>
        </p:nvSpPr>
        <p:spPr>
          <a:xfrm>
            <a:off x="512064" y="437997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Ghostery</a:t>
            </a:r>
            <a:endParaRPr lang="en-US" sz="1150" dirty="0"/>
          </a:p>
        </p:txBody>
      </p:sp>
      <p:sp>
        <p:nvSpPr>
          <p:cNvPr id="65" name="Shape 56"/>
          <p:cNvSpPr/>
          <p:nvPr/>
        </p:nvSpPr>
        <p:spPr>
          <a:xfrm>
            <a:off x="2803942" y="4512564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6" name="Text 57"/>
          <p:cNvSpPr/>
          <p:nvPr/>
        </p:nvSpPr>
        <p:spPr>
          <a:xfrm>
            <a:off x="2803942" y="45125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7" name="Shape 58"/>
          <p:cNvSpPr/>
          <p:nvPr/>
        </p:nvSpPr>
        <p:spPr>
          <a:xfrm>
            <a:off x="6871716" y="4512564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68" name="Text 59"/>
          <p:cNvSpPr/>
          <p:nvPr/>
        </p:nvSpPr>
        <p:spPr>
          <a:xfrm>
            <a:off x="6871716" y="45125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69" name="Shape 60"/>
          <p:cNvSpPr/>
          <p:nvPr/>
        </p:nvSpPr>
        <p:spPr>
          <a:xfrm>
            <a:off x="8227641" y="4512564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0" name="Text 61"/>
          <p:cNvSpPr/>
          <p:nvPr/>
        </p:nvSpPr>
        <p:spPr>
          <a:xfrm>
            <a:off x="8227641" y="45125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1" name="Shape 62"/>
          <p:cNvSpPr/>
          <p:nvPr/>
        </p:nvSpPr>
        <p:spPr>
          <a:xfrm>
            <a:off x="9583565" y="4512564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2" name="Text 63"/>
          <p:cNvSpPr/>
          <p:nvPr/>
        </p:nvSpPr>
        <p:spPr>
          <a:xfrm>
            <a:off x="9583565" y="45125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3" name="Shape 64"/>
          <p:cNvSpPr/>
          <p:nvPr/>
        </p:nvSpPr>
        <p:spPr>
          <a:xfrm>
            <a:off x="457200" y="4873752"/>
            <a:ext cx="11274552" cy="0"/>
          </a:xfrm>
          <a:prstGeom prst="line">
            <a:avLst/>
          </a:prstGeom>
          <a:noFill/>
          <a:ln w="9525">
            <a:solidFill>
              <a:srgbClr val="CBD6EE"/>
            </a:solidFill>
            <a:prstDash val="solid"/>
          </a:ln>
        </p:spPr>
      </p:sp>
      <p:sp>
        <p:nvSpPr>
          <p:cNvPr id="74" name="Text 65"/>
          <p:cNvSpPr/>
          <p:nvPr/>
        </p:nvSpPr>
        <p:spPr>
          <a:xfrm>
            <a:off x="512064" y="48920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D3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DuckDuckGo</a:t>
            </a:r>
            <a:endParaRPr lang="en-US" sz="1150" dirty="0"/>
          </a:p>
        </p:txBody>
      </p:sp>
      <p:sp>
        <p:nvSpPr>
          <p:cNvPr id="75" name="Shape 66"/>
          <p:cNvSpPr/>
          <p:nvPr/>
        </p:nvSpPr>
        <p:spPr>
          <a:xfrm>
            <a:off x="2803942" y="5024628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6" name="Text 67"/>
          <p:cNvSpPr/>
          <p:nvPr/>
        </p:nvSpPr>
        <p:spPr>
          <a:xfrm>
            <a:off x="2803942" y="50246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7" name="Shape 68"/>
          <p:cNvSpPr/>
          <p:nvPr/>
        </p:nvSpPr>
        <p:spPr>
          <a:xfrm>
            <a:off x="6871716" y="5024628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78" name="Text 69"/>
          <p:cNvSpPr/>
          <p:nvPr/>
        </p:nvSpPr>
        <p:spPr>
          <a:xfrm>
            <a:off x="6871716" y="50246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79" name="Shape 70"/>
          <p:cNvSpPr/>
          <p:nvPr/>
        </p:nvSpPr>
        <p:spPr>
          <a:xfrm>
            <a:off x="8227641" y="5024628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80" name="Text 71"/>
          <p:cNvSpPr/>
          <p:nvPr/>
        </p:nvSpPr>
        <p:spPr>
          <a:xfrm>
            <a:off x="8227641" y="50246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1" name="Shape 72"/>
          <p:cNvSpPr/>
          <p:nvPr/>
        </p:nvSpPr>
        <p:spPr>
          <a:xfrm>
            <a:off x="9583565" y="5024628"/>
            <a:ext cx="228600" cy="228600"/>
          </a:xfrm>
          <a:prstGeom prst="ellipse">
            <a:avLst/>
          </a:prstGeom>
          <a:solidFill>
            <a:srgbClr val="B9C3DC"/>
          </a:solidFill>
          <a:ln/>
        </p:spPr>
      </p:sp>
      <p:sp>
        <p:nvSpPr>
          <p:cNvPr id="82" name="Text 73"/>
          <p:cNvSpPr/>
          <p:nvPr/>
        </p:nvSpPr>
        <p:spPr>
          <a:xfrm>
            <a:off x="9583565" y="50246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000" dirty="0"/>
          </a:p>
        </p:txBody>
      </p:sp>
      <p:sp>
        <p:nvSpPr>
          <p:cNvPr id="83" name="Text 74"/>
          <p:cNvSpPr/>
          <p:nvPr/>
        </p:nvSpPr>
        <p:spPr>
          <a:xfrm>
            <a:off x="457200" y="553212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6B7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comparison based on each competitor's published product listings (Chrome Web Store, extension sites) as of July 2026. "DuckDuckGo" refers to DuckDuckGo Privacy Essentials.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2026-07-22T13:55:39Z</dcterms:created>
  <dcterms:modified xsi:type="dcterms:W3CDTF">2026-07-22T13:55:39Z</dcterms:modified>
</cp:coreProperties>
</file>